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2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31"/>
  </p:normalViewPr>
  <p:slideViewPr>
    <p:cSldViewPr snapToGrid="0" snapToObjects="1">
      <p:cViewPr varScale="1">
        <p:scale>
          <a:sx n="101" d="100"/>
          <a:sy n="101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D159A-AB59-5449-A070-CFDB508F57AB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D1226-4125-DA4A-BD46-B27E2BE69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4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8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86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8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1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49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75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7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13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4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9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97C7C-B2A8-014D-A32C-DAB795EADDC6}" type="datetimeFigureOut">
              <a:rPr lang="en-US" smtClean="0"/>
              <a:t>11/16/18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03D2A-D880-104B-926F-882310AB8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xplosion 2 2"/>
          <p:cNvSpPr/>
          <p:nvPr/>
        </p:nvSpPr>
        <p:spPr>
          <a:xfrm>
            <a:off x="3799781" y="1469985"/>
            <a:ext cx="5622324" cy="2421924"/>
          </a:xfrm>
          <a:prstGeom prst="irregularSeal2">
            <a:avLst/>
          </a:prstGeom>
          <a:solidFill>
            <a:srgbClr val="ED2E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SMACK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3832" y="567160"/>
            <a:ext cx="2268638" cy="11227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LLVM</a:t>
            </a:r>
          </a:p>
        </p:txBody>
      </p:sp>
      <p:sp>
        <p:nvSpPr>
          <p:cNvPr id="5" name="Internal Storage 4"/>
          <p:cNvSpPr/>
          <p:nvPr/>
        </p:nvSpPr>
        <p:spPr>
          <a:xfrm>
            <a:off x="2874665" y="2430684"/>
            <a:ext cx="1426971" cy="1643605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LLVM IR</a:t>
            </a:r>
          </a:p>
        </p:txBody>
      </p:sp>
      <p:sp>
        <p:nvSpPr>
          <p:cNvPr id="6" name="Curved Right Arrow 5"/>
          <p:cNvSpPr/>
          <p:nvPr/>
        </p:nvSpPr>
        <p:spPr>
          <a:xfrm>
            <a:off x="2742651" y="1487305"/>
            <a:ext cx="416688" cy="1210962"/>
          </a:xfrm>
          <a:prstGeom prst="curved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0706" y="1741823"/>
            <a:ext cx="1272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Optimize &amp; Analyze</a:t>
            </a:r>
          </a:p>
        </p:txBody>
      </p:sp>
      <p:sp>
        <p:nvSpPr>
          <p:cNvPr id="11" name="Bent Arrow 10"/>
          <p:cNvSpPr/>
          <p:nvPr/>
        </p:nvSpPr>
        <p:spPr>
          <a:xfrm rot="5400000">
            <a:off x="5271341" y="353953"/>
            <a:ext cx="881527" cy="1979273"/>
          </a:xfrm>
          <a:prstGeom prst="ben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45157" y="568960"/>
            <a:ext cx="151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Aliasing</a:t>
            </a:r>
          </a:p>
        </p:txBody>
      </p:sp>
      <p:sp>
        <p:nvSpPr>
          <p:cNvPr id="13" name="Internal Storage 12"/>
          <p:cNvSpPr/>
          <p:nvPr/>
        </p:nvSpPr>
        <p:spPr>
          <a:xfrm>
            <a:off x="8648617" y="2035824"/>
            <a:ext cx="1426971" cy="1643605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/>
              <a:t>BoogieIVL</a:t>
            </a:r>
            <a:endParaRPr lang="en-US" sz="2800" dirty="0"/>
          </a:p>
        </p:txBody>
      </p:sp>
      <p:sp>
        <p:nvSpPr>
          <p:cNvPr id="14" name="Right Arrow 13"/>
          <p:cNvSpPr/>
          <p:nvPr/>
        </p:nvSpPr>
        <p:spPr>
          <a:xfrm rot="20350027">
            <a:off x="4047998" y="2980481"/>
            <a:ext cx="1415221" cy="54401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rved Right Arrow 8"/>
          <p:cNvSpPr/>
          <p:nvPr/>
        </p:nvSpPr>
        <p:spPr>
          <a:xfrm rot="10800000">
            <a:off x="3961766" y="1487305"/>
            <a:ext cx="416688" cy="1210962"/>
          </a:xfrm>
          <a:prstGeom prst="curved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436559" y="2585622"/>
            <a:ext cx="1415221" cy="54401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0300323" y="1128532"/>
            <a:ext cx="1643605" cy="9072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Boogie</a:t>
            </a:r>
          </a:p>
          <a:p>
            <a:pPr algn="ctr"/>
            <a:r>
              <a:rPr lang="en-US" dirty="0"/>
              <a:t>verifier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00325" y="2227301"/>
            <a:ext cx="1643605" cy="9072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Corral</a:t>
            </a:r>
          </a:p>
          <a:p>
            <a:pPr algn="ctr"/>
            <a:r>
              <a:rPr lang="en-US" dirty="0"/>
              <a:t>verifier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00324" y="3304719"/>
            <a:ext cx="1643605" cy="9072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dirty="0"/>
              <a:t>verifiers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355" y="2149382"/>
            <a:ext cx="1643605" cy="9072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</a:t>
            </a:r>
          </a:p>
          <a:p>
            <a:pPr algn="ctr"/>
            <a:r>
              <a:rPr lang="en-US" dirty="0"/>
              <a:t>C/C++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355" y="1128532"/>
            <a:ext cx="1643605" cy="9072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Rust</a:t>
            </a:r>
          </a:p>
          <a:p>
            <a:pPr algn="ctr"/>
            <a:r>
              <a:rPr lang="en-US" dirty="0"/>
              <a:t>Compiler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12" y="3166997"/>
            <a:ext cx="1643605" cy="9072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LLVM Compilers</a:t>
            </a:r>
          </a:p>
        </p:txBody>
      </p:sp>
      <p:cxnSp>
        <p:nvCxnSpPr>
          <p:cNvPr id="29" name="Elbow Connector 28"/>
          <p:cNvCxnSpPr/>
          <p:nvPr/>
        </p:nvCxnSpPr>
        <p:spPr>
          <a:xfrm>
            <a:off x="1700104" y="1807356"/>
            <a:ext cx="1191021" cy="105027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9" idx="3"/>
            <a:endCxn id="5" idx="1"/>
          </p:cNvCxnSpPr>
          <p:nvPr/>
        </p:nvCxnSpPr>
        <p:spPr>
          <a:xfrm>
            <a:off x="1718960" y="2603028"/>
            <a:ext cx="1155705" cy="649459"/>
          </a:xfrm>
          <a:prstGeom prst="bentConnector3">
            <a:avLst>
              <a:gd name="adj1" fmla="val 33976"/>
            </a:avLst>
          </a:prstGeom>
          <a:ln w="5080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1" idx="3"/>
          </p:cNvCxnSpPr>
          <p:nvPr/>
        </p:nvCxnSpPr>
        <p:spPr>
          <a:xfrm>
            <a:off x="1732717" y="3620643"/>
            <a:ext cx="1141948" cy="0"/>
          </a:xfrm>
          <a:prstGeom prst="straightConnector1">
            <a:avLst/>
          </a:prstGeom>
          <a:ln w="5080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13" idx="0"/>
          </p:cNvCxnSpPr>
          <p:nvPr/>
        </p:nvCxnSpPr>
        <p:spPr>
          <a:xfrm rot="5400000" flipH="1" flipV="1">
            <a:off x="9782496" y="1184157"/>
            <a:ext cx="431275" cy="1272060"/>
          </a:xfrm>
          <a:prstGeom prst="bentConnector2">
            <a:avLst/>
          </a:prstGeom>
          <a:ln w="5080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/>
          <p:nvPr/>
        </p:nvCxnSpPr>
        <p:spPr>
          <a:xfrm rot="16200000" flipH="1">
            <a:off x="9911067" y="3145380"/>
            <a:ext cx="248045" cy="1225969"/>
          </a:xfrm>
          <a:prstGeom prst="bentConnector2">
            <a:avLst/>
          </a:prstGeom>
          <a:ln w="5080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/>
          <p:cNvCxnSpPr/>
          <p:nvPr/>
        </p:nvCxnSpPr>
        <p:spPr>
          <a:xfrm flipV="1">
            <a:off x="9783859" y="2746607"/>
            <a:ext cx="850304" cy="310070"/>
          </a:xfrm>
          <a:prstGeom prst="bentConnector3">
            <a:avLst>
              <a:gd name="adj1" fmla="val 50000"/>
            </a:avLst>
          </a:prstGeom>
          <a:ln w="50800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36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ternal Storage 12"/>
          <p:cNvSpPr/>
          <p:nvPr/>
        </p:nvSpPr>
        <p:spPr>
          <a:xfrm>
            <a:off x="10765029" y="746886"/>
            <a:ext cx="1426971" cy="1643605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Boogie</a:t>
            </a:r>
          </a:p>
          <a:p>
            <a:pPr algn="ctr"/>
            <a:r>
              <a:rPr lang="en-US" sz="2800" dirty="0"/>
              <a:t>IVL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21558" y="1265815"/>
            <a:ext cx="694211" cy="544010"/>
          </a:xfrm>
          <a:prstGeom prst="rightArrow">
            <a:avLst>
              <a:gd name="adj1" fmla="val 62450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79669" y="970474"/>
            <a:ext cx="1643605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</a:t>
            </a:r>
          </a:p>
          <a:p>
            <a:pPr algn="ctr"/>
            <a:r>
              <a:rPr lang="en-US" dirty="0"/>
              <a:t>C/C++/</a:t>
            </a:r>
            <a:r>
              <a:rPr lang="en-US" dirty="0" err="1"/>
              <a:t>Obj</a:t>
            </a:r>
            <a:r>
              <a:rPr lang="en-US" dirty="0"/>
              <a:t>-C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9668" y="161323"/>
            <a:ext cx="1643605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rustc</a:t>
            </a:r>
            <a:endParaRPr lang="en-US" dirty="0"/>
          </a:p>
          <a:p>
            <a:pPr algn="ctr"/>
            <a:r>
              <a:rPr lang="en-US" dirty="0"/>
              <a:t>Rust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9669" y="2588776"/>
            <a:ext cx="1643605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swiftc</a:t>
            </a:r>
            <a:endParaRPr lang="en-US" dirty="0"/>
          </a:p>
          <a:p>
            <a:pPr algn="ctr"/>
            <a:r>
              <a:rPr lang="en-US" dirty="0"/>
              <a:t>Swift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9669" y="1779625"/>
            <a:ext cx="1643605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flang</a:t>
            </a:r>
            <a:endParaRPr lang="en-US" dirty="0"/>
          </a:p>
          <a:p>
            <a:pPr algn="ctr"/>
            <a:r>
              <a:rPr lang="en-US" dirty="0"/>
              <a:t>FORTRAN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9668" y="3397927"/>
            <a:ext cx="1643605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dirty="0"/>
              <a:t>Compilers</a:t>
            </a:r>
          </a:p>
        </p:txBody>
      </p:sp>
      <p:sp>
        <p:nvSpPr>
          <p:cNvPr id="27" name="Double Brace 26"/>
          <p:cNvSpPr/>
          <p:nvPr/>
        </p:nvSpPr>
        <p:spPr>
          <a:xfrm>
            <a:off x="2503767" y="161322"/>
            <a:ext cx="1431063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/>
              <a:t>LLVM IR</a:t>
            </a:r>
          </a:p>
        </p:txBody>
      </p:sp>
      <p:sp>
        <p:nvSpPr>
          <p:cNvPr id="37" name="Double Brace 36"/>
          <p:cNvSpPr/>
          <p:nvPr/>
        </p:nvSpPr>
        <p:spPr>
          <a:xfrm>
            <a:off x="2503766" y="970474"/>
            <a:ext cx="1431063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/>
              <a:t>LLVM IR</a:t>
            </a:r>
          </a:p>
        </p:txBody>
      </p:sp>
      <p:sp>
        <p:nvSpPr>
          <p:cNvPr id="38" name="Double Brace 37"/>
          <p:cNvSpPr/>
          <p:nvPr/>
        </p:nvSpPr>
        <p:spPr>
          <a:xfrm>
            <a:off x="2503765" y="1779625"/>
            <a:ext cx="1431063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/>
              <a:t>LLVM IR</a:t>
            </a:r>
          </a:p>
        </p:txBody>
      </p:sp>
      <p:sp>
        <p:nvSpPr>
          <p:cNvPr id="40" name="Double Brace 39"/>
          <p:cNvSpPr/>
          <p:nvPr/>
        </p:nvSpPr>
        <p:spPr>
          <a:xfrm>
            <a:off x="2503765" y="2588776"/>
            <a:ext cx="1431063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/>
              <a:t>LLVM IR</a:t>
            </a:r>
          </a:p>
        </p:txBody>
      </p:sp>
      <p:sp>
        <p:nvSpPr>
          <p:cNvPr id="41" name="Double Brace 40"/>
          <p:cNvSpPr/>
          <p:nvPr/>
        </p:nvSpPr>
        <p:spPr>
          <a:xfrm>
            <a:off x="2503765" y="3397927"/>
            <a:ext cx="1431063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/>
              <a:t>LLVM IR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4828" y="4067166"/>
            <a:ext cx="2061941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SMACK</a:t>
            </a:r>
          </a:p>
          <a:p>
            <a:pPr algn="ctr"/>
            <a:r>
              <a:rPr lang="en-US" dirty="0"/>
              <a:t>Verifier Primitives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46383" y="4079171"/>
            <a:ext cx="2061941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Modelled</a:t>
            </a:r>
          </a:p>
          <a:p>
            <a:pPr algn="ctr"/>
            <a:r>
              <a:rPr lang="en-US" dirty="0"/>
              <a:t>Standard Libraries</a:t>
            </a:r>
          </a:p>
        </p:txBody>
      </p:sp>
      <p:sp>
        <p:nvSpPr>
          <p:cNvPr id="28" name="Oval 27"/>
          <p:cNvSpPr/>
          <p:nvPr/>
        </p:nvSpPr>
        <p:spPr>
          <a:xfrm>
            <a:off x="6433886" y="759538"/>
            <a:ext cx="3687676" cy="1618302"/>
          </a:xfrm>
          <a:prstGeom prst="ellipse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SMACK</a:t>
            </a:r>
          </a:p>
        </p:txBody>
      </p:sp>
      <p:cxnSp>
        <p:nvCxnSpPr>
          <p:cNvPr id="33" name="Straight Arrow Connector 32"/>
          <p:cNvCxnSpPr>
            <a:stCxn id="27" idx="3"/>
          </p:cNvCxnSpPr>
          <p:nvPr/>
        </p:nvCxnSpPr>
        <p:spPr>
          <a:xfrm>
            <a:off x="3934830" y="495942"/>
            <a:ext cx="2499056" cy="88441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7" idx="3"/>
            <a:endCxn id="28" idx="2"/>
          </p:cNvCxnSpPr>
          <p:nvPr/>
        </p:nvCxnSpPr>
        <p:spPr>
          <a:xfrm>
            <a:off x="3934829" y="1305094"/>
            <a:ext cx="2499057" cy="26359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8" idx="3"/>
          </p:cNvCxnSpPr>
          <p:nvPr/>
        </p:nvCxnSpPr>
        <p:spPr>
          <a:xfrm flipV="1">
            <a:off x="3934828" y="1708602"/>
            <a:ext cx="2499056" cy="405643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3929188" y="1864155"/>
            <a:ext cx="2556280" cy="105924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3929188" y="1986337"/>
            <a:ext cx="2657880" cy="1746209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2" idx="0"/>
          </p:cNvCxnSpPr>
          <p:nvPr/>
        </p:nvCxnSpPr>
        <p:spPr>
          <a:xfrm flipV="1">
            <a:off x="4965799" y="2078733"/>
            <a:ext cx="1784885" cy="1988433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3" idx="0"/>
          </p:cNvCxnSpPr>
          <p:nvPr/>
        </p:nvCxnSpPr>
        <p:spPr>
          <a:xfrm flipH="1" flipV="1">
            <a:off x="6800298" y="2177849"/>
            <a:ext cx="277056" cy="1901322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 rot="3126357">
            <a:off x="4430934" y="1774389"/>
            <a:ext cx="2899936" cy="638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llvm</a:t>
            </a:r>
            <a:r>
              <a:rPr lang="en-US" dirty="0">
                <a:solidFill>
                  <a:schemeClr val="tx1"/>
                </a:solidFill>
              </a:rPr>
              <a:t>-link</a:t>
            </a:r>
          </a:p>
        </p:txBody>
      </p:sp>
      <p:cxnSp>
        <p:nvCxnSpPr>
          <p:cNvPr id="72" name="Straight Arrow Connector 71"/>
          <p:cNvCxnSpPr>
            <a:stCxn id="32" idx="3"/>
            <a:endCxn id="41" idx="1"/>
          </p:cNvCxnSpPr>
          <p:nvPr/>
        </p:nvCxnSpPr>
        <p:spPr>
          <a:xfrm>
            <a:off x="1823273" y="3732547"/>
            <a:ext cx="68049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21" idx="3"/>
            <a:endCxn id="40" idx="1"/>
          </p:cNvCxnSpPr>
          <p:nvPr/>
        </p:nvCxnSpPr>
        <p:spPr>
          <a:xfrm>
            <a:off x="1823274" y="2923396"/>
            <a:ext cx="68049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31" idx="3"/>
            <a:endCxn id="38" idx="1"/>
          </p:cNvCxnSpPr>
          <p:nvPr/>
        </p:nvCxnSpPr>
        <p:spPr>
          <a:xfrm>
            <a:off x="1823274" y="2114245"/>
            <a:ext cx="68049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19" idx="3"/>
            <a:endCxn id="37" idx="1"/>
          </p:cNvCxnSpPr>
          <p:nvPr/>
        </p:nvCxnSpPr>
        <p:spPr>
          <a:xfrm>
            <a:off x="1823274" y="1305094"/>
            <a:ext cx="68049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0" idx="3"/>
            <a:endCxn id="27" idx="1"/>
          </p:cNvCxnSpPr>
          <p:nvPr/>
        </p:nvCxnSpPr>
        <p:spPr>
          <a:xfrm flipV="1">
            <a:off x="1823273" y="495942"/>
            <a:ext cx="680494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95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ight Arrow 14"/>
          <p:cNvSpPr/>
          <p:nvPr/>
        </p:nvSpPr>
        <p:spPr>
          <a:xfrm>
            <a:off x="9486417" y="1147434"/>
            <a:ext cx="694211" cy="544010"/>
          </a:xfrm>
          <a:prstGeom prst="rightArrow">
            <a:avLst>
              <a:gd name="adj1" fmla="val 62450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2935362" y="344327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clang</a:t>
            </a:r>
            <a:endParaRPr lang="en-US" dirty="0"/>
          </a:p>
        </p:txBody>
      </p:sp>
      <p:sp>
        <p:nvSpPr>
          <p:cNvPr id="27" name="Double Brace 26"/>
          <p:cNvSpPr/>
          <p:nvPr/>
        </p:nvSpPr>
        <p:spPr>
          <a:xfrm>
            <a:off x="4587052" y="344327"/>
            <a:ext cx="1431063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/>
              <a:t>LLVM IR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827" y="344327"/>
            <a:ext cx="1147834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SMACK</a:t>
            </a:r>
          </a:p>
          <a:p>
            <a:pPr algn="ctr"/>
            <a:r>
              <a:rPr lang="en-US" sz="1600" dirty="0" smtClean="0"/>
              <a:t>Models</a:t>
            </a:r>
            <a:endParaRPr lang="en-US" sz="1600" dirty="0"/>
          </a:p>
        </p:txBody>
      </p:sp>
      <p:sp>
        <p:nvSpPr>
          <p:cNvPr id="28" name="Oval 27"/>
          <p:cNvSpPr/>
          <p:nvPr/>
        </p:nvSpPr>
        <p:spPr>
          <a:xfrm>
            <a:off x="6556175" y="610288"/>
            <a:ext cx="2930242" cy="1618302"/>
          </a:xfrm>
          <a:prstGeom prst="ellipse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SMACK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IR Translation</a:t>
            </a:r>
          </a:p>
        </p:txBody>
      </p:sp>
      <p:cxnSp>
        <p:nvCxnSpPr>
          <p:cNvPr id="33" name="Straight Arrow Connector 32"/>
          <p:cNvCxnSpPr>
            <a:stCxn id="27" idx="3"/>
            <a:endCxn id="28" idx="2"/>
          </p:cNvCxnSpPr>
          <p:nvPr/>
        </p:nvCxnSpPr>
        <p:spPr>
          <a:xfrm>
            <a:off x="6018115" y="678947"/>
            <a:ext cx="538060" cy="740492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2" idx="3"/>
            <a:endCxn id="20" idx="1"/>
          </p:cNvCxnSpPr>
          <p:nvPr/>
        </p:nvCxnSpPr>
        <p:spPr>
          <a:xfrm>
            <a:off x="1253661" y="678947"/>
            <a:ext cx="168170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0" idx="3"/>
            <a:endCxn id="27" idx="1"/>
          </p:cNvCxnSpPr>
          <p:nvPr/>
        </p:nvCxnSpPr>
        <p:spPr>
          <a:xfrm>
            <a:off x="4183902" y="678947"/>
            <a:ext cx="4031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35361" y="1768951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X Compiler</a:t>
            </a:r>
            <a:endParaRPr lang="en-US" dirty="0"/>
          </a:p>
        </p:txBody>
      </p:sp>
      <p:sp>
        <p:nvSpPr>
          <p:cNvPr id="18" name="Double Brace 17"/>
          <p:cNvSpPr/>
          <p:nvPr/>
        </p:nvSpPr>
        <p:spPr>
          <a:xfrm>
            <a:off x="4587051" y="1768951"/>
            <a:ext cx="1431063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/>
              <a:t>LLVM IR</a:t>
            </a:r>
          </a:p>
        </p:txBody>
      </p:sp>
      <p:cxnSp>
        <p:nvCxnSpPr>
          <p:cNvPr id="19" name="Straight Arrow Connector 18"/>
          <p:cNvCxnSpPr>
            <a:stCxn id="17" idx="3"/>
            <a:endCxn id="18" idx="1"/>
          </p:cNvCxnSpPr>
          <p:nvPr/>
        </p:nvCxnSpPr>
        <p:spPr>
          <a:xfrm>
            <a:off x="4183901" y="2103571"/>
            <a:ext cx="40315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8" idx="3"/>
            <a:endCxn id="28" idx="2"/>
          </p:cNvCxnSpPr>
          <p:nvPr/>
        </p:nvCxnSpPr>
        <p:spPr>
          <a:xfrm flipV="1">
            <a:off x="6018114" y="1419439"/>
            <a:ext cx="538061" cy="684132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nternal Storage 28"/>
          <p:cNvSpPr/>
          <p:nvPr/>
        </p:nvSpPr>
        <p:spPr>
          <a:xfrm>
            <a:off x="105826" y="1050953"/>
            <a:ext cx="1147835" cy="669239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 Source</a:t>
            </a:r>
          </a:p>
        </p:txBody>
      </p:sp>
      <p:cxnSp>
        <p:nvCxnSpPr>
          <p:cNvPr id="30" name="Straight Arrow Connector 29"/>
          <p:cNvCxnSpPr>
            <a:stCxn id="29" idx="3"/>
            <a:endCxn id="22" idx="1"/>
          </p:cNvCxnSpPr>
          <p:nvPr/>
        </p:nvCxnSpPr>
        <p:spPr>
          <a:xfrm>
            <a:off x="1253661" y="1385573"/>
            <a:ext cx="1676999" cy="568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5826" y="1774814"/>
            <a:ext cx="1147833" cy="6692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 </a:t>
            </a:r>
            <a:r>
              <a:rPr lang="en-US" dirty="0" err="1"/>
              <a:t>stdlib</a:t>
            </a:r>
            <a:r>
              <a:rPr lang="en-US" dirty="0"/>
              <a:t> Models</a:t>
            </a:r>
          </a:p>
        </p:txBody>
      </p:sp>
      <p:cxnSp>
        <p:nvCxnSpPr>
          <p:cNvPr id="37" name="Straight Arrow Connector 36"/>
          <p:cNvCxnSpPr>
            <a:stCxn id="36" idx="3"/>
            <a:endCxn id="17" idx="1"/>
          </p:cNvCxnSpPr>
          <p:nvPr/>
        </p:nvCxnSpPr>
        <p:spPr>
          <a:xfrm flipV="1">
            <a:off x="1253659" y="2103571"/>
            <a:ext cx="1681702" cy="5862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nternal Storage 46"/>
          <p:cNvSpPr/>
          <p:nvPr/>
        </p:nvSpPr>
        <p:spPr>
          <a:xfrm>
            <a:off x="10180628" y="603452"/>
            <a:ext cx="1426971" cy="156424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Boogie</a:t>
            </a:r>
          </a:p>
          <a:p>
            <a:pPr algn="ctr"/>
            <a:r>
              <a:rPr lang="en-US" sz="2800" dirty="0"/>
              <a:t>IVL</a:t>
            </a:r>
          </a:p>
          <a:p>
            <a:pPr algn="ctr"/>
            <a:r>
              <a:rPr lang="en-US" dirty="0"/>
              <a:t>(Backend Verifiers)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0660" y="1056639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X Compiler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61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ternal Storage 12"/>
          <p:cNvSpPr/>
          <p:nvPr/>
        </p:nvSpPr>
        <p:spPr>
          <a:xfrm>
            <a:off x="10645562" y="643450"/>
            <a:ext cx="1426971" cy="156424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Boogie</a:t>
            </a:r>
          </a:p>
          <a:p>
            <a:pPr algn="ctr"/>
            <a:r>
              <a:rPr lang="en-US" dirty="0"/>
              <a:t>IVL</a:t>
            </a:r>
          </a:p>
          <a:p>
            <a:pPr algn="ctr"/>
            <a:r>
              <a:rPr lang="en-US" dirty="0"/>
              <a:t>(Backend Verifiers)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42680" y="1146904"/>
            <a:ext cx="694211" cy="544010"/>
          </a:xfrm>
          <a:prstGeom prst="rightArrow">
            <a:avLst>
              <a:gd name="adj1" fmla="val 62450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1806777" y="362506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clang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7752685" y="698371"/>
            <a:ext cx="2189995" cy="1454397"/>
          </a:xfrm>
          <a:prstGeom prst="ellipse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llvm2bpl</a:t>
            </a:r>
            <a:endParaRPr lang="en-US" sz="3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IR Translation</a:t>
            </a:r>
          </a:p>
        </p:txBody>
      </p:sp>
      <p:cxnSp>
        <p:nvCxnSpPr>
          <p:cNvPr id="33" name="Straight Arrow Connector 32"/>
          <p:cNvCxnSpPr>
            <a:cxnSpLocks/>
            <a:stCxn id="34" idx="3"/>
            <a:endCxn id="28" idx="2"/>
          </p:cNvCxnSpPr>
          <p:nvPr/>
        </p:nvCxnSpPr>
        <p:spPr>
          <a:xfrm>
            <a:off x="7410329" y="1421144"/>
            <a:ext cx="342356" cy="442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cxnSpLocks/>
            <a:stCxn id="32" idx="3"/>
            <a:endCxn id="16" idx="1"/>
          </p:cNvCxnSpPr>
          <p:nvPr/>
        </p:nvCxnSpPr>
        <p:spPr>
          <a:xfrm flipV="1">
            <a:off x="1410499" y="2152768"/>
            <a:ext cx="385521" cy="628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cxnSpLocks/>
            <a:stCxn id="20" idx="3"/>
            <a:endCxn id="44" idx="1"/>
          </p:cNvCxnSpPr>
          <p:nvPr/>
        </p:nvCxnSpPr>
        <p:spPr>
          <a:xfrm>
            <a:off x="3055317" y="697126"/>
            <a:ext cx="396278" cy="124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nternal Storage 38"/>
          <p:cNvSpPr/>
          <p:nvPr/>
        </p:nvSpPr>
        <p:spPr>
          <a:xfrm>
            <a:off x="93559" y="359286"/>
            <a:ext cx="1316941" cy="669239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SMACK Models</a:t>
            </a:r>
            <a:endParaRPr lang="en-US" dirty="0"/>
          </a:p>
        </p:txBody>
      </p:sp>
      <p:cxnSp>
        <p:nvCxnSpPr>
          <p:cNvPr id="74" name="Straight Arrow Connector 73"/>
          <p:cNvCxnSpPr>
            <a:cxnSpLocks/>
            <a:stCxn id="35" idx="3"/>
            <a:endCxn id="17" idx="1"/>
          </p:cNvCxnSpPr>
          <p:nvPr/>
        </p:nvCxnSpPr>
        <p:spPr>
          <a:xfrm>
            <a:off x="1410499" y="1426480"/>
            <a:ext cx="396278" cy="575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cxnSpLocks/>
            <a:stCxn id="39" idx="3"/>
            <a:endCxn id="20" idx="1"/>
          </p:cNvCxnSpPr>
          <p:nvPr/>
        </p:nvCxnSpPr>
        <p:spPr>
          <a:xfrm>
            <a:off x="1410500" y="693906"/>
            <a:ext cx="396277" cy="322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9">
            <a:extLst>
              <a:ext uri="{FF2B5EF4-FFF2-40B4-BE49-F238E27FC236}">
                <a16:creationId xmlns="" xmlns:a16="http://schemas.microsoft.com/office/drawing/2014/main" id="{CF4A23F2-1897-44DF-B31C-62841F97B034}"/>
              </a:ext>
            </a:extLst>
          </p:cNvPr>
          <p:cNvSpPr/>
          <p:nvPr/>
        </p:nvSpPr>
        <p:spPr>
          <a:xfrm>
            <a:off x="1796020" y="1818148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</a:t>
            </a:r>
          </a:p>
        </p:txBody>
      </p:sp>
      <p:sp>
        <p:nvSpPr>
          <p:cNvPr id="17" name="Rounded Rectangle 19">
            <a:extLst>
              <a:ext uri="{FF2B5EF4-FFF2-40B4-BE49-F238E27FC236}">
                <a16:creationId xmlns="" xmlns:a16="http://schemas.microsoft.com/office/drawing/2014/main" id="{72F61728-51B0-4367-9178-17B5BD1390C2}"/>
              </a:ext>
            </a:extLst>
          </p:cNvPr>
          <p:cNvSpPr/>
          <p:nvPr/>
        </p:nvSpPr>
        <p:spPr>
          <a:xfrm>
            <a:off x="1806777" y="1097610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</a:t>
            </a:r>
          </a:p>
        </p:txBody>
      </p:sp>
      <p:sp>
        <p:nvSpPr>
          <p:cNvPr id="34" name="Double Brace 33">
            <a:extLst>
              <a:ext uri="{FF2B5EF4-FFF2-40B4-BE49-F238E27FC236}">
                <a16:creationId xmlns="" xmlns:a16="http://schemas.microsoft.com/office/drawing/2014/main" id="{F9792634-BA93-4870-8291-F19DE298FF16}"/>
              </a:ext>
            </a:extLst>
          </p:cNvPr>
          <p:cNvSpPr/>
          <p:nvPr/>
        </p:nvSpPr>
        <p:spPr>
          <a:xfrm>
            <a:off x="6424651" y="1086524"/>
            <a:ext cx="985678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lang="en-US" dirty="0"/>
              <a:t>LLVM</a:t>
            </a:r>
            <a:br>
              <a:rPr lang="en-US" dirty="0"/>
            </a:br>
            <a:r>
              <a:rPr lang="en-US" dirty="0"/>
              <a:t>IR</a:t>
            </a:r>
          </a:p>
        </p:txBody>
      </p:sp>
      <p:sp>
        <p:nvSpPr>
          <p:cNvPr id="44" name="Double Brace 43">
            <a:extLst>
              <a:ext uri="{FF2B5EF4-FFF2-40B4-BE49-F238E27FC236}">
                <a16:creationId xmlns="" xmlns:a16="http://schemas.microsoft.com/office/drawing/2014/main" id="{1A9AEA9F-4CD3-4CB6-8929-23DCBDE2B3D9}"/>
              </a:ext>
            </a:extLst>
          </p:cNvPr>
          <p:cNvSpPr/>
          <p:nvPr/>
        </p:nvSpPr>
        <p:spPr>
          <a:xfrm>
            <a:off x="3451595" y="363751"/>
            <a:ext cx="985678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lang="en-US" dirty="0"/>
              <a:t>LLVM</a:t>
            </a:r>
            <a:br>
              <a:rPr lang="en-US" dirty="0"/>
            </a:br>
            <a:r>
              <a:rPr lang="en-US" dirty="0"/>
              <a:t>IR</a:t>
            </a:r>
          </a:p>
        </p:txBody>
      </p:sp>
      <p:sp>
        <p:nvSpPr>
          <p:cNvPr id="45" name="Rounded Rectangle 19">
            <a:extLst>
              <a:ext uri="{FF2B5EF4-FFF2-40B4-BE49-F238E27FC236}">
                <a16:creationId xmlns="" xmlns:a16="http://schemas.microsoft.com/office/drawing/2014/main" id="{C606EA50-06E9-4A5E-809D-DE5EAA57929A}"/>
              </a:ext>
            </a:extLst>
          </p:cNvPr>
          <p:cNvSpPr/>
          <p:nvPr/>
        </p:nvSpPr>
        <p:spPr>
          <a:xfrm>
            <a:off x="4951253" y="1100187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llvm</a:t>
            </a:r>
            <a:r>
              <a:rPr lang="en-US" dirty="0" smtClean="0"/>
              <a:t>-link</a:t>
            </a:r>
            <a:endParaRPr lang="en-US" dirty="0"/>
          </a:p>
        </p:txBody>
      </p:sp>
      <p:sp>
        <p:nvSpPr>
          <p:cNvPr id="46" name="Double Brace 45">
            <a:extLst>
              <a:ext uri="{FF2B5EF4-FFF2-40B4-BE49-F238E27FC236}">
                <a16:creationId xmlns="" xmlns:a16="http://schemas.microsoft.com/office/drawing/2014/main" id="{B7D0895D-5A4D-403E-ABFE-78221B2B3ABD}"/>
              </a:ext>
            </a:extLst>
          </p:cNvPr>
          <p:cNvSpPr/>
          <p:nvPr/>
        </p:nvSpPr>
        <p:spPr>
          <a:xfrm>
            <a:off x="3451595" y="1084289"/>
            <a:ext cx="985678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lang="en-US" dirty="0"/>
              <a:t>LLVM</a:t>
            </a:r>
            <a:br>
              <a:rPr lang="en-US" dirty="0"/>
            </a:br>
            <a:r>
              <a:rPr lang="en-US" dirty="0"/>
              <a:t>IR</a:t>
            </a:r>
          </a:p>
        </p:txBody>
      </p:sp>
      <p:sp>
        <p:nvSpPr>
          <p:cNvPr id="47" name="Double Brace 46">
            <a:extLst>
              <a:ext uri="{FF2B5EF4-FFF2-40B4-BE49-F238E27FC236}">
                <a16:creationId xmlns="" xmlns:a16="http://schemas.microsoft.com/office/drawing/2014/main" id="{1FBF1BC2-5CB0-4E6F-BCE0-DFCBED616C3C}"/>
              </a:ext>
            </a:extLst>
          </p:cNvPr>
          <p:cNvSpPr/>
          <p:nvPr/>
        </p:nvSpPr>
        <p:spPr>
          <a:xfrm>
            <a:off x="3467668" y="1824434"/>
            <a:ext cx="985678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lang="en-US" dirty="0"/>
              <a:t>LLVM</a:t>
            </a:r>
            <a:br>
              <a:rPr lang="en-US" dirty="0"/>
            </a:br>
            <a:r>
              <a:rPr lang="en-US" dirty="0"/>
              <a:t>IR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CBD5DA1E-1F4E-477D-87E4-921BDA4E3F75}"/>
              </a:ext>
            </a:extLst>
          </p:cNvPr>
          <p:cNvCxnSpPr>
            <a:cxnSpLocks/>
          </p:cNvCxnSpPr>
          <p:nvPr/>
        </p:nvCxnSpPr>
        <p:spPr>
          <a:xfrm>
            <a:off x="4437273" y="694436"/>
            <a:ext cx="513980" cy="613664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="" xmlns:a16="http://schemas.microsoft.com/office/drawing/2014/main" id="{75B9FC82-0DBC-451D-806D-12E7C77910AD}"/>
              </a:ext>
            </a:extLst>
          </p:cNvPr>
          <p:cNvCxnSpPr>
            <a:cxnSpLocks/>
            <a:stCxn id="46" idx="3"/>
            <a:endCxn id="45" idx="1"/>
          </p:cNvCxnSpPr>
          <p:nvPr/>
        </p:nvCxnSpPr>
        <p:spPr>
          <a:xfrm>
            <a:off x="4437273" y="1418909"/>
            <a:ext cx="513980" cy="15898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CD1B995F-76EF-4338-9018-4FD0DD07F818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4453346" y="1576709"/>
            <a:ext cx="508193" cy="58234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6DBF5F27-8F85-464D-8076-7FCDB6534845}"/>
              </a:ext>
            </a:extLst>
          </p:cNvPr>
          <p:cNvCxnSpPr>
            <a:cxnSpLocks/>
            <a:stCxn id="17" idx="3"/>
            <a:endCxn id="46" idx="1"/>
          </p:cNvCxnSpPr>
          <p:nvPr/>
        </p:nvCxnSpPr>
        <p:spPr>
          <a:xfrm flipV="1">
            <a:off x="3055317" y="1418909"/>
            <a:ext cx="396278" cy="13321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88583B5-4A46-40A6-9197-2AA614CA4A62}"/>
              </a:ext>
            </a:extLst>
          </p:cNvPr>
          <p:cNvCxnSpPr>
            <a:cxnSpLocks/>
            <a:stCxn id="16" idx="3"/>
            <a:endCxn id="47" idx="1"/>
          </p:cNvCxnSpPr>
          <p:nvPr/>
        </p:nvCxnSpPr>
        <p:spPr>
          <a:xfrm>
            <a:off x="3044560" y="2152768"/>
            <a:ext cx="423108" cy="628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="" xmlns:a16="http://schemas.microsoft.com/office/drawing/2014/main" id="{6AFADCAF-073B-4D3C-9CBF-D38C5DA4050E}"/>
              </a:ext>
            </a:extLst>
          </p:cNvPr>
          <p:cNvCxnSpPr>
            <a:cxnSpLocks/>
            <a:stCxn id="45" idx="3"/>
            <a:endCxn id="34" idx="1"/>
          </p:cNvCxnSpPr>
          <p:nvPr/>
        </p:nvCxnSpPr>
        <p:spPr>
          <a:xfrm flipV="1">
            <a:off x="6199793" y="1421144"/>
            <a:ext cx="224858" cy="13663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nternal Storage 31"/>
          <p:cNvSpPr/>
          <p:nvPr/>
        </p:nvSpPr>
        <p:spPr>
          <a:xfrm>
            <a:off x="93558" y="1824434"/>
            <a:ext cx="1316941" cy="669239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 source</a:t>
            </a:r>
            <a:endParaRPr lang="en-US" dirty="0"/>
          </a:p>
        </p:txBody>
      </p:sp>
      <p:sp>
        <p:nvSpPr>
          <p:cNvPr id="35" name="Internal Storage 34"/>
          <p:cNvSpPr/>
          <p:nvPr/>
        </p:nvSpPr>
        <p:spPr>
          <a:xfrm>
            <a:off x="93558" y="1091860"/>
            <a:ext cx="1316941" cy="669239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 </a:t>
            </a:r>
            <a:r>
              <a:rPr lang="en-US" dirty="0" err="1" smtClean="0"/>
              <a:t>stdlib</a:t>
            </a:r>
            <a:r>
              <a:rPr lang="en-US" dirty="0" smtClean="0"/>
              <a:t>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48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ternal Storage 12"/>
          <p:cNvSpPr/>
          <p:nvPr/>
        </p:nvSpPr>
        <p:spPr>
          <a:xfrm>
            <a:off x="10645562" y="643450"/>
            <a:ext cx="1426971" cy="1564240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Boogie</a:t>
            </a:r>
          </a:p>
          <a:p>
            <a:pPr algn="ctr"/>
            <a:r>
              <a:rPr lang="en-US" dirty="0"/>
              <a:t>IVL</a:t>
            </a:r>
          </a:p>
          <a:p>
            <a:pPr algn="ctr"/>
            <a:r>
              <a:rPr lang="en-US" dirty="0"/>
              <a:t>(Backend Verifiers)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42680" y="1146904"/>
            <a:ext cx="694211" cy="544010"/>
          </a:xfrm>
          <a:prstGeom prst="rightArrow">
            <a:avLst>
              <a:gd name="adj1" fmla="val 62450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1806777" y="362506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clang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7752685" y="698371"/>
            <a:ext cx="2189995" cy="1454397"/>
          </a:xfrm>
          <a:prstGeom prst="ellipse">
            <a:avLst/>
          </a:pr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llvm2bpl</a:t>
            </a:r>
            <a:endParaRPr lang="en-US" sz="28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IR Translation</a:t>
            </a:r>
          </a:p>
        </p:txBody>
      </p:sp>
      <p:cxnSp>
        <p:nvCxnSpPr>
          <p:cNvPr id="33" name="Straight Arrow Connector 32"/>
          <p:cNvCxnSpPr>
            <a:cxnSpLocks/>
            <a:stCxn id="34" idx="3"/>
            <a:endCxn id="28" idx="2"/>
          </p:cNvCxnSpPr>
          <p:nvPr/>
        </p:nvCxnSpPr>
        <p:spPr>
          <a:xfrm>
            <a:off x="7410329" y="1421144"/>
            <a:ext cx="342356" cy="442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cxnSpLocks/>
            <a:stCxn id="32" idx="3"/>
            <a:endCxn id="16" idx="1"/>
          </p:cNvCxnSpPr>
          <p:nvPr/>
        </p:nvCxnSpPr>
        <p:spPr>
          <a:xfrm flipV="1">
            <a:off x="1410499" y="2152768"/>
            <a:ext cx="385521" cy="628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cxnSpLocks/>
            <a:stCxn id="20" idx="3"/>
            <a:endCxn id="44" idx="1"/>
          </p:cNvCxnSpPr>
          <p:nvPr/>
        </p:nvCxnSpPr>
        <p:spPr>
          <a:xfrm>
            <a:off x="3055317" y="697126"/>
            <a:ext cx="396278" cy="124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Internal Storage 38"/>
          <p:cNvSpPr/>
          <p:nvPr/>
        </p:nvSpPr>
        <p:spPr>
          <a:xfrm>
            <a:off x="93559" y="359286"/>
            <a:ext cx="1316941" cy="669239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SMACK Models</a:t>
            </a:r>
            <a:endParaRPr lang="en-US" dirty="0"/>
          </a:p>
        </p:txBody>
      </p:sp>
      <p:cxnSp>
        <p:nvCxnSpPr>
          <p:cNvPr id="74" name="Straight Arrow Connector 73"/>
          <p:cNvCxnSpPr>
            <a:cxnSpLocks/>
            <a:stCxn id="35" idx="3"/>
            <a:endCxn id="17" idx="1"/>
          </p:cNvCxnSpPr>
          <p:nvPr/>
        </p:nvCxnSpPr>
        <p:spPr>
          <a:xfrm>
            <a:off x="1410499" y="1426480"/>
            <a:ext cx="396278" cy="575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cxnSpLocks/>
            <a:stCxn id="39" idx="3"/>
            <a:endCxn id="20" idx="1"/>
          </p:cNvCxnSpPr>
          <p:nvPr/>
        </p:nvCxnSpPr>
        <p:spPr>
          <a:xfrm>
            <a:off x="1410500" y="693906"/>
            <a:ext cx="396277" cy="322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9">
            <a:extLst>
              <a:ext uri="{FF2B5EF4-FFF2-40B4-BE49-F238E27FC236}">
                <a16:creationId xmlns="" xmlns:a16="http://schemas.microsoft.com/office/drawing/2014/main" id="{CF4A23F2-1897-44DF-B31C-62841F97B034}"/>
              </a:ext>
            </a:extLst>
          </p:cNvPr>
          <p:cNvSpPr/>
          <p:nvPr/>
        </p:nvSpPr>
        <p:spPr>
          <a:xfrm>
            <a:off x="1796020" y="1818148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 compiler</a:t>
            </a:r>
            <a:endParaRPr lang="en-US" dirty="0"/>
          </a:p>
        </p:txBody>
      </p:sp>
      <p:sp>
        <p:nvSpPr>
          <p:cNvPr id="17" name="Rounded Rectangle 19">
            <a:extLst>
              <a:ext uri="{FF2B5EF4-FFF2-40B4-BE49-F238E27FC236}">
                <a16:creationId xmlns="" xmlns:a16="http://schemas.microsoft.com/office/drawing/2014/main" id="{72F61728-51B0-4367-9178-17B5BD1390C2}"/>
              </a:ext>
            </a:extLst>
          </p:cNvPr>
          <p:cNvSpPr/>
          <p:nvPr/>
        </p:nvSpPr>
        <p:spPr>
          <a:xfrm>
            <a:off x="1806777" y="1097610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 compiler</a:t>
            </a:r>
            <a:endParaRPr lang="en-US" dirty="0"/>
          </a:p>
        </p:txBody>
      </p:sp>
      <p:sp>
        <p:nvSpPr>
          <p:cNvPr id="34" name="Double Brace 33">
            <a:extLst>
              <a:ext uri="{FF2B5EF4-FFF2-40B4-BE49-F238E27FC236}">
                <a16:creationId xmlns="" xmlns:a16="http://schemas.microsoft.com/office/drawing/2014/main" id="{F9792634-BA93-4870-8291-F19DE298FF16}"/>
              </a:ext>
            </a:extLst>
          </p:cNvPr>
          <p:cNvSpPr/>
          <p:nvPr/>
        </p:nvSpPr>
        <p:spPr>
          <a:xfrm>
            <a:off x="6424651" y="1086524"/>
            <a:ext cx="985678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lang="en-US" dirty="0"/>
              <a:t>LLVM</a:t>
            </a:r>
            <a:br>
              <a:rPr lang="en-US" dirty="0"/>
            </a:br>
            <a:r>
              <a:rPr lang="en-US" dirty="0"/>
              <a:t>IR</a:t>
            </a:r>
          </a:p>
        </p:txBody>
      </p:sp>
      <p:sp>
        <p:nvSpPr>
          <p:cNvPr id="44" name="Double Brace 43">
            <a:extLst>
              <a:ext uri="{FF2B5EF4-FFF2-40B4-BE49-F238E27FC236}">
                <a16:creationId xmlns="" xmlns:a16="http://schemas.microsoft.com/office/drawing/2014/main" id="{1A9AEA9F-4CD3-4CB6-8929-23DCBDE2B3D9}"/>
              </a:ext>
            </a:extLst>
          </p:cNvPr>
          <p:cNvSpPr/>
          <p:nvPr/>
        </p:nvSpPr>
        <p:spPr>
          <a:xfrm>
            <a:off x="3451595" y="363751"/>
            <a:ext cx="985678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lang="en-US" dirty="0"/>
              <a:t>LLVM</a:t>
            </a:r>
            <a:br>
              <a:rPr lang="en-US" dirty="0"/>
            </a:br>
            <a:r>
              <a:rPr lang="en-US" dirty="0"/>
              <a:t>IR</a:t>
            </a:r>
          </a:p>
        </p:txBody>
      </p:sp>
      <p:sp>
        <p:nvSpPr>
          <p:cNvPr id="45" name="Rounded Rectangle 19">
            <a:extLst>
              <a:ext uri="{FF2B5EF4-FFF2-40B4-BE49-F238E27FC236}">
                <a16:creationId xmlns="" xmlns:a16="http://schemas.microsoft.com/office/drawing/2014/main" id="{C606EA50-06E9-4A5E-809D-DE5EAA57929A}"/>
              </a:ext>
            </a:extLst>
          </p:cNvPr>
          <p:cNvSpPr/>
          <p:nvPr/>
        </p:nvSpPr>
        <p:spPr>
          <a:xfrm>
            <a:off x="4951253" y="1100187"/>
            <a:ext cx="1248540" cy="6692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llvm</a:t>
            </a:r>
            <a:r>
              <a:rPr lang="en-US" dirty="0" smtClean="0"/>
              <a:t>-link</a:t>
            </a:r>
            <a:endParaRPr lang="en-US" dirty="0"/>
          </a:p>
        </p:txBody>
      </p:sp>
      <p:sp>
        <p:nvSpPr>
          <p:cNvPr id="46" name="Double Brace 45">
            <a:extLst>
              <a:ext uri="{FF2B5EF4-FFF2-40B4-BE49-F238E27FC236}">
                <a16:creationId xmlns="" xmlns:a16="http://schemas.microsoft.com/office/drawing/2014/main" id="{B7D0895D-5A4D-403E-ABFE-78221B2B3ABD}"/>
              </a:ext>
            </a:extLst>
          </p:cNvPr>
          <p:cNvSpPr/>
          <p:nvPr/>
        </p:nvSpPr>
        <p:spPr>
          <a:xfrm>
            <a:off x="3451595" y="1084289"/>
            <a:ext cx="985678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lang="en-US" dirty="0"/>
              <a:t>LLVM</a:t>
            </a:r>
            <a:br>
              <a:rPr lang="en-US" dirty="0"/>
            </a:br>
            <a:r>
              <a:rPr lang="en-US" dirty="0"/>
              <a:t>IR</a:t>
            </a:r>
          </a:p>
        </p:txBody>
      </p:sp>
      <p:sp>
        <p:nvSpPr>
          <p:cNvPr id="47" name="Double Brace 46">
            <a:extLst>
              <a:ext uri="{FF2B5EF4-FFF2-40B4-BE49-F238E27FC236}">
                <a16:creationId xmlns="" xmlns:a16="http://schemas.microsoft.com/office/drawing/2014/main" id="{1FBF1BC2-5CB0-4E6F-BCE0-DFCBED616C3C}"/>
              </a:ext>
            </a:extLst>
          </p:cNvPr>
          <p:cNvSpPr/>
          <p:nvPr/>
        </p:nvSpPr>
        <p:spPr>
          <a:xfrm>
            <a:off x="3467668" y="1824434"/>
            <a:ext cx="985678" cy="669239"/>
          </a:xfrm>
          <a:prstGeom prst="bracePair">
            <a:avLst>
              <a:gd name="adj" fmla="val 12107"/>
            </a:avLst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lang="en-US" dirty="0"/>
              <a:t>LLVM</a:t>
            </a:r>
            <a:br>
              <a:rPr lang="en-US" dirty="0"/>
            </a:br>
            <a:r>
              <a:rPr lang="en-US" dirty="0"/>
              <a:t>IR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="" xmlns:a16="http://schemas.microsoft.com/office/drawing/2014/main" id="{CBD5DA1E-1F4E-477D-87E4-921BDA4E3F75}"/>
              </a:ext>
            </a:extLst>
          </p:cNvPr>
          <p:cNvCxnSpPr>
            <a:cxnSpLocks/>
          </p:cNvCxnSpPr>
          <p:nvPr/>
        </p:nvCxnSpPr>
        <p:spPr>
          <a:xfrm>
            <a:off x="4437273" y="694436"/>
            <a:ext cx="513980" cy="613664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="" xmlns:a16="http://schemas.microsoft.com/office/drawing/2014/main" id="{75B9FC82-0DBC-451D-806D-12E7C77910AD}"/>
              </a:ext>
            </a:extLst>
          </p:cNvPr>
          <p:cNvCxnSpPr>
            <a:cxnSpLocks/>
            <a:stCxn id="46" idx="3"/>
            <a:endCxn id="45" idx="1"/>
          </p:cNvCxnSpPr>
          <p:nvPr/>
        </p:nvCxnSpPr>
        <p:spPr>
          <a:xfrm>
            <a:off x="4437273" y="1418909"/>
            <a:ext cx="513980" cy="15898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="" xmlns:a16="http://schemas.microsoft.com/office/drawing/2014/main" id="{CD1B995F-76EF-4338-9018-4FD0DD07F818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4453346" y="1576709"/>
            <a:ext cx="508193" cy="58234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6DBF5F27-8F85-464D-8076-7FCDB6534845}"/>
              </a:ext>
            </a:extLst>
          </p:cNvPr>
          <p:cNvCxnSpPr>
            <a:cxnSpLocks/>
            <a:stCxn id="17" idx="3"/>
            <a:endCxn id="46" idx="1"/>
          </p:cNvCxnSpPr>
          <p:nvPr/>
        </p:nvCxnSpPr>
        <p:spPr>
          <a:xfrm flipV="1">
            <a:off x="3055317" y="1418909"/>
            <a:ext cx="396278" cy="13321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="" xmlns:a16="http://schemas.microsoft.com/office/drawing/2014/main" id="{288583B5-4A46-40A6-9197-2AA614CA4A62}"/>
              </a:ext>
            </a:extLst>
          </p:cNvPr>
          <p:cNvCxnSpPr>
            <a:cxnSpLocks/>
            <a:stCxn id="16" idx="3"/>
            <a:endCxn id="47" idx="1"/>
          </p:cNvCxnSpPr>
          <p:nvPr/>
        </p:nvCxnSpPr>
        <p:spPr>
          <a:xfrm>
            <a:off x="3044560" y="2152768"/>
            <a:ext cx="423108" cy="628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="" xmlns:a16="http://schemas.microsoft.com/office/drawing/2014/main" id="{6AFADCAF-073B-4D3C-9CBF-D38C5DA4050E}"/>
              </a:ext>
            </a:extLst>
          </p:cNvPr>
          <p:cNvCxnSpPr>
            <a:cxnSpLocks/>
            <a:stCxn id="45" idx="3"/>
            <a:endCxn id="34" idx="1"/>
          </p:cNvCxnSpPr>
          <p:nvPr/>
        </p:nvCxnSpPr>
        <p:spPr>
          <a:xfrm flipV="1">
            <a:off x="6199793" y="1421144"/>
            <a:ext cx="224858" cy="13663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nternal Storage 31"/>
          <p:cNvSpPr/>
          <p:nvPr/>
        </p:nvSpPr>
        <p:spPr>
          <a:xfrm>
            <a:off x="93558" y="1824434"/>
            <a:ext cx="1316941" cy="669239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 source</a:t>
            </a:r>
            <a:endParaRPr lang="en-US" dirty="0"/>
          </a:p>
        </p:txBody>
      </p:sp>
      <p:sp>
        <p:nvSpPr>
          <p:cNvPr id="35" name="Internal Storage 34"/>
          <p:cNvSpPr/>
          <p:nvPr/>
        </p:nvSpPr>
        <p:spPr>
          <a:xfrm>
            <a:off x="93558" y="1091860"/>
            <a:ext cx="1316941" cy="669239"/>
          </a:xfrm>
          <a:prstGeom prst="flowChartInternalStorag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r>
              <a:rPr lang="en-US" dirty="0" smtClean="0"/>
              <a:t> </a:t>
            </a:r>
            <a:r>
              <a:rPr lang="en-US" dirty="0" err="1" smtClean="0"/>
              <a:t>stdlib</a:t>
            </a:r>
            <a:r>
              <a:rPr lang="en-US" dirty="0" smtClean="0"/>
              <a:t>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83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4538</TotalTime>
  <Words>131</Words>
  <Application>Microsoft Macintosh PowerPoint</Application>
  <PresentationFormat>Widescreen</PresentationFormat>
  <Paragraphs>86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 J GARZELLA</dc:creator>
  <cp:lastModifiedBy>JACK J GARZELLA</cp:lastModifiedBy>
  <cp:revision>14</cp:revision>
  <dcterms:created xsi:type="dcterms:W3CDTF">2017-06-10T20:12:28Z</dcterms:created>
  <dcterms:modified xsi:type="dcterms:W3CDTF">2018-11-16T19:29:10Z</dcterms:modified>
</cp:coreProperties>
</file>